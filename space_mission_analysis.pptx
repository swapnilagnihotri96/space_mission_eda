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B4D8"/>
                </a:solidFill>
              </a:defRPr>
            </a:pPr>
            <a:r>
              <a:t>GLOBAL SPACE MISSION ANALYSIS (1957 – PRESENT)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60+ Years of Orbital Launches &amp; Space Economics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Exploratory Data Analysis, Launch Success Analytics &amp; Commercial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Prepared by: Space Intelligence &amp; Data Science Team  |  Dataset: Global Space Launch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32B"/>
                </a:solidFill>
              </a:defRPr>
            </a:pPr>
            <a:r>
              <a:t>Global Launch Metrics &amp; Strategic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B4D8"/>
                </a:solidFill>
              </a:defRPr>
            </a:pPr>
            <a:r>
              <a:t>4,324+</a:t>
            </a:r>
          </a:p>
          <a:p>
            <a:pPr>
              <a:defRPr sz="1300" b="1">
                <a:solidFill>
                  <a:srgbClr val="0B132B"/>
                </a:solidFill>
              </a:defRPr>
            </a:pPr>
            <a:r>
              <a:t>Total Space Missions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Analyzed from Sputnik 1 (1957) to modern commercial orbital launches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B4D8"/>
                </a:solidFill>
              </a:defRPr>
            </a:pPr>
            <a:r>
              <a:t>89.6%</a:t>
            </a:r>
          </a:p>
          <a:p>
            <a:pPr>
              <a:defRPr sz="1300" b="1">
                <a:solidFill>
                  <a:srgbClr val="0B132B"/>
                </a:solidFill>
              </a:defRPr>
            </a:pPr>
            <a:r>
              <a:t>Overall Success Rate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Historical reliability across all global space agencies and providers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B4D8"/>
                </a:solidFill>
              </a:defRPr>
            </a:pPr>
            <a:r>
              <a:t>US &amp; SU</a:t>
            </a:r>
          </a:p>
          <a:p>
            <a:pPr>
              <a:defRPr sz="1300" b="1">
                <a:solidFill>
                  <a:srgbClr val="0B132B"/>
                </a:solidFill>
              </a:defRPr>
            </a:pPr>
            <a:r>
              <a:t>Dominant Space Powers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Account for over 70% of historical orbital launch attempts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0" y="178308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B4D8"/>
                </a:solidFill>
              </a:defRPr>
            </a:pPr>
            <a:r>
              <a:t>SpaceX</a:t>
            </a:r>
          </a:p>
          <a:p>
            <a:pPr>
              <a:defRPr sz="1300" b="1">
                <a:solidFill>
                  <a:srgbClr val="0B132B"/>
                </a:solidFill>
              </a:defRPr>
            </a:pPr>
            <a:r>
              <a:t>Commercial Disruption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Leading private sector efficiency and reusability milestones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10698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32B"/>
                </a:solidFill>
              </a:defRPr>
            </a:pPr>
            <a:r>
              <a:t>Key Strategic Insights:</a:t>
            </a:r>
          </a:p>
          <a:p>
            <a:pPr>
              <a:defRPr sz="1200">
                <a:solidFill>
                  <a:srgbClr val="1C2541"/>
                </a:solidFill>
              </a:defRPr>
            </a:pPr>
            <a:r>
              <a:t>• Cold War Peak vs Modern Boom: Space launches peaked during the 1960s-1970s Space Race, followed by a decline, and are now experiencing an exponential resurgence driven by commercial mega-constellations.</a:t>
            </a:r>
          </a:p>
          <a:p>
            <a:pPr>
              <a:defRPr sz="1200">
                <a:solidFill>
                  <a:srgbClr val="1C2541"/>
                </a:solidFill>
              </a:defRPr>
            </a:pPr>
            <a:r>
              <a:t>• Rocket Reliability Curve: Initial mission failure rates exceeded 30% in the late 1950s but stabilized above 92% in modern orbital vehicles.</a:t>
            </a:r>
          </a:p>
          <a:p>
            <a:pPr>
              <a:defRPr sz="1200">
                <a:solidFill>
                  <a:srgbClr val="1C2541"/>
                </a:solidFill>
              </a:defRPr>
            </a:pPr>
            <a:r>
              <a:t>• Commercialization Pivot: Government agencies (NASA, RVSN) historically led volume, but commercial entities (SpaceX, Arianespace) now command market share.</a:t>
            </a:r>
          </a:p>
          <a:p>
            <a:pPr>
              <a:defRPr sz="1200">
                <a:solidFill>
                  <a:srgbClr val="1C2541"/>
                </a:solidFill>
              </a:defRPr>
            </a:pPr>
            <a:r>
              <a:t>• Cost Efficiency Shift: Reusable launch systems have significantly lowered payload-to-orbit costs, reshaping global space economics.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32B"/>
                </a:solidFill>
              </a:defRPr>
            </a:pPr>
            <a:r>
              <a:t>Data Architecture, Parsing &amp; Feature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32B"/>
                </a:solidFill>
              </a:defRPr>
            </a:pPr>
            <a:r>
              <a:t>Raw Dataset Attributes</a:t>
            </a:r>
          </a:p>
          <a:p>
            <a:r>
              <a:t/>
            </a:r>
            <a:br/>
            <a:r>
              <a:t>• Company Name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Launching organization (e.g., SpaceX, NASA, CASC, Roscosmos).</a:t>
            </a:r>
          </a:p>
          <a:p>
            <a:r>
              <a:t/>
            </a:r>
            <a:br/>
            <a:r>
              <a:t>• Location &amp; Datum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Specific launch site pads and precise timestamp of lift-off.</a:t>
            </a:r>
          </a:p>
          <a:p>
            <a:r>
              <a:t/>
            </a:r>
            <a:br/>
            <a:r>
              <a:t>• Detail &amp; Rocket Status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Vehicle name, payload details, and operational status (Active/Retired).</a:t>
            </a:r>
          </a:p>
          <a:p>
            <a:r>
              <a:t/>
            </a:r>
            <a:br/>
            <a:r>
              <a:t>• Mission Status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Categorical outcome: Success, Failure, Partial Failure, Prelaunch Failure.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32B"/>
                </a:solidFill>
              </a:defRPr>
            </a:pPr>
            <a:r>
              <a:t>Data Engineering</a:t>
            </a:r>
          </a:p>
          <a:p>
            <a:r>
              <a:t/>
            </a:r>
            <a:br/>
            <a:r>
              <a:t>• Cost Feature Clean-up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Converted string launch costs ($M) into float variables, imputing missing values.</a:t>
            </a:r>
          </a:p>
          <a:p>
            <a:r>
              <a:t/>
            </a:r>
            <a:br/>
            <a:r>
              <a:t>• Country Extraction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Extracted sovereign launch countries from location string suffixes.</a:t>
            </a:r>
          </a:p>
          <a:p>
            <a:r>
              <a:t/>
            </a:r>
            <a:br/>
            <a:r>
              <a:t>• Temporal Decomposition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Parsed ISO dates into Year, Month, Day, and Hour for time-series modeling.</a:t>
            </a:r>
          </a:p>
          <a:p>
            <a:r>
              <a:t/>
            </a:r>
            <a:br/>
            <a:r>
              <a:t>• Status Binarization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Derived binary target: Success (1) vs non-Success (0) for classification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32B"/>
                </a:solidFill>
              </a:defRPr>
            </a:pPr>
            <a:r>
              <a:t>Analytical Pipeline</a:t>
            </a:r>
          </a:p>
          <a:p>
            <a:r>
              <a:t/>
            </a:r>
            <a:br/>
            <a:r>
              <a:t>• Temporal Trend Analysis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Tracked annual launch volumes and success rates across eras.</a:t>
            </a:r>
          </a:p>
          <a:p>
            <a:r>
              <a:t/>
            </a:r>
            <a:br/>
            <a:r>
              <a:t>• Market Share Analysis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Aggregated launch frequency by country and top 10 organizations.</a:t>
            </a:r>
          </a:p>
          <a:p>
            <a:r>
              <a:t/>
            </a:r>
            <a:br/>
            <a:r>
              <a:t>• Failure Diagnostics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Chi-Square tests evaluating failure rates across sites and vehicle types.</a:t>
            </a:r>
          </a:p>
          <a:p>
            <a:r>
              <a:t/>
            </a:r>
            <a:br/>
            <a:r>
              <a:t>• Predictive Modeling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Random Forest Classifier predicting mission success probability.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HISTORICAL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32B"/>
                </a:solidFill>
              </a:defRPr>
            </a:pPr>
            <a:r>
              <a:t>Evolution of Global Space Launches (1957 - Present)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5943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Era Period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Primary Drivers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Avg Launches/Yr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Success Rate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1957 - 1969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Cold War Space Race (Sputnik/Apollo)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78 launches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72.4%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1970 - 1989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Orbital Satellites &amp; Space Shuttle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115 launches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92.1%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1990 - 2009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Post-Soviet / ISS Construction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72 launches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93.8%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2010 - 2019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Commercial Rise &amp; SmallSats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88 launches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94.5%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2020 - Present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Commercial Constellations (Starlink)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140+ launches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541"/>
                          </a:solidFill>
                        </a:defRPr>
                      </a:pPr>
                      <a:r>
                        <a:t>96.2%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040880" y="1645920"/>
            <a:ext cx="43891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1828800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32B"/>
                </a:solidFill>
              </a:defRPr>
            </a:pPr>
            <a:r>
              <a:t>Era Dynamics</a:t>
            </a:r>
          </a:p>
          <a:p>
            <a:r>
              <a:t/>
            </a:r>
            <a:br/>
            <a:r>
              <a:t>• The Space Race Surge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Initial rapid development between the US and USSR produced high launch cadence but higher initial failure rates during technology maturation.</a:t>
            </a:r>
          </a:p>
          <a:p>
            <a:r>
              <a:t/>
            </a:r>
            <a:br/>
            <a:r>
              <a:t>• Post-Cold War Stabilization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Volume dipped after 1990 but vehicle reliability reached industry standards above 93%.</a:t>
            </a:r>
          </a:p>
          <a:p>
            <a:r>
              <a:t/>
            </a:r>
            <a:br/>
            <a:r>
              <a:t>• The New Space Renaissance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Private capital and reusable rocket technology (SpaceX Falcon 9) pushed annual launch counts to record-breaking levels.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ORGANIZATION 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32B"/>
                </a:solidFill>
              </a:defRPr>
            </a:pPr>
            <a:r>
              <a:t>Top Launch Providers by Volume &amp; Reliability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32B"/>
                </a:solidFill>
              </a:defRPr>
            </a:pPr>
            <a:r>
              <a:t>RVSN USSR</a:t>
            </a:r>
          </a:p>
          <a:p>
            <a:r>
              <a:t/>
            </a:r>
            <a:br/>
            <a:r>
              <a:t>1,777 Launches</a:t>
            </a:r>
          </a:p>
          <a:p>
            <a:r>
              <a:t/>
            </a:r>
            <a:br/>
            <a:r>
              <a:t>Success Rate: 92.5%</a:t>
            </a:r>
          </a:p>
          <a:p>
            <a:r>
              <a:t/>
            </a:r>
            <a:br/>
            <a:r>
              <a:t>Historical Soviet Strategic Rocket Forces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64592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800" y="182880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B4D8"/>
                </a:solidFill>
              </a:defRPr>
            </a:pPr>
            <a:r>
              <a:t>Arianespace</a:t>
            </a:r>
          </a:p>
          <a:p>
            <a:r>
              <a:t/>
            </a:r>
            <a:br/>
            <a:r>
              <a:t>279 Launches</a:t>
            </a:r>
          </a:p>
          <a:p>
            <a:r>
              <a:t/>
            </a:r>
            <a:br/>
            <a:r>
              <a:t>Success Rate: 95.7%</a:t>
            </a:r>
          </a:p>
          <a:p>
            <a:r>
              <a:t/>
            </a:r>
            <a:br/>
            <a:r>
              <a:t>European Commercial Launch Leader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64592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0" y="182880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2541"/>
                </a:solidFill>
              </a:defRPr>
            </a:pPr>
            <a:r>
              <a:t>General Dynamics</a:t>
            </a:r>
          </a:p>
          <a:p>
            <a:r>
              <a:t/>
            </a:r>
            <a:br/>
            <a:r>
              <a:t>251 Launches</a:t>
            </a:r>
          </a:p>
          <a:p>
            <a:r>
              <a:t/>
            </a:r>
            <a:br/>
            <a:r>
              <a:t>Success Rate: 88.4%</a:t>
            </a:r>
          </a:p>
          <a:p>
            <a:r>
              <a:t/>
            </a:r>
            <a:br/>
            <a:r>
              <a:t>Atlas Rocket Family Pioneer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64592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69480" y="182880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32B"/>
                </a:solidFill>
              </a:defRPr>
            </a:pPr>
            <a:r>
              <a:t>NASA</a:t>
            </a:r>
          </a:p>
          <a:p>
            <a:r>
              <a:t/>
            </a:r>
            <a:br/>
            <a:r>
              <a:t>203 Launches</a:t>
            </a:r>
          </a:p>
          <a:p>
            <a:r>
              <a:t/>
            </a:r>
            <a:br/>
            <a:r>
              <a:t>Success Rate: 91.6%</a:t>
            </a:r>
          </a:p>
          <a:p>
            <a:r>
              <a:t/>
            </a:r>
            <a:br/>
            <a:r>
              <a:t>US Civil Space &amp; Shuttle Program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645920"/>
            <a:ext cx="2011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0" y="182880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B703"/>
                </a:solidFill>
              </a:defRPr>
            </a:pPr>
            <a:r>
              <a:t>SpaceX</a:t>
            </a:r>
          </a:p>
          <a:p>
            <a:r>
              <a:t/>
            </a:r>
            <a:br/>
            <a:r>
              <a:t>180+ Launches</a:t>
            </a:r>
          </a:p>
          <a:p>
            <a:r>
              <a:t/>
            </a:r>
            <a:br/>
            <a:r>
              <a:t>Success Rate: 97.8%</a:t>
            </a:r>
          </a:p>
          <a:p>
            <a:r>
              <a:t/>
            </a:r>
            <a:br/>
            <a:r>
              <a:t>Leader in Reusable Rocket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GEOGRAPHIC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32B"/>
                </a:solidFill>
              </a:defRPr>
            </a:pPr>
            <a:r>
              <a:t>Top Launch Nations &amp; Primary Spaceports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32B"/>
                </a:solidFill>
              </a:defRPr>
            </a:pPr>
            <a:r>
              <a:t>Baikonur Cosmodrome, Kazakhstan</a:t>
            </a:r>
          </a:p>
          <a:p>
            <a:pPr>
              <a:defRPr sz="1300" b="1">
                <a:solidFill>
                  <a:srgbClr val="0B132B"/>
                </a:solidFill>
              </a:defRPr>
            </a:pPr>
            <a:r>
              <a:t>1,500+ Launches</a:t>
            </a:r>
          </a:p>
          <a:p>
            <a:r>
              <a:t/>
            </a:r>
            <a:br/>
            <a:r>
              <a:t>Primary Soviet/Russian launch complex for Soyuz and Proton rockets.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B4D8"/>
                </a:solidFill>
              </a:defRPr>
            </a:pPr>
            <a:r>
              <a:t>Cape Canaveral / KSC, USA</a:t>
            </a:r>
          </a:p>
          <a:p>
            <a:pPr>
              <a:defRPr sz="1300" b="1">
                <a:solidFill>
                  <a:srgbClr val="0B132B"/>
                </a:solidFill>
              </a:defRPr>
            </a:pPr>
            <a:r>
              <a:t>1,000+ Launches</a:t>
            </a:r>
          </a:p>
          <a:p>
            <a:r>
              <a:t/>
            </a:r>
            <a:br/>
            <a:r>
              <a:t>Primary US East Coast spaceport for Apollo, Shuttle, and SpaceX Falcon 9.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2541"/>
                </a:solidFill>
              </a:defRPr>
            </a:pPr>
            <a:r>
              <a:t>Plesetsk Cosmodrome, Russia</a:t>
            </a:r>
          </a:p>
          <a:p>
            <a:pPr>
              <a:defRPr sz="1300" b="1">
                <a:solidFill>
                  <a:srgbClr val="0B132B"/>
                </a:solidFill>
              </a:defRPr>
            </a:pPr>
            <a:r>
              <a:t>700+ Launches</a:t>
            </a:r>
          </a:p>
          <a:p>
            <a:r>
              <a:t/>
            </a:r>
            <a:br/>
            <a:r>
              <a:t>Russian military spaceport utilized for polar orbit 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B703"/>
                </a:solidFill>
              </a:defRPr>
            </a:pPr>
            <a:r>
              <a:t>Kourou Space Centre, French Guiana</a:t>
            </a:r>
          </a:p>
          <a:p>
            <a:pPr>
              <a:defRPr sz="1300" b="1">
                <a:solidFill>
                  <a:srgbClr val="0B132B"/>
                </a:solidFill>
              </a:defRPr>
            </a:pPr>
            <a:r>
              <a:t>300+ Launches</a:t>
            </a:r>
          </a:p>
          <a:p>
            <a:r>
              <a:t/>
            </a:r>
            <a:br/>
            <a:r>
              <a:t>European equatorial spaceport providing optimal GEO transfer advantage.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SPACE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32B"/>
                </a:solidFill>
              </a:defRPr>
            </a:pPr>
            <a:r>
              <a:t>Rocket Cost Breakdown &amp; Financial Efficiency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32B"/>
                </a:solidFill>
              </a:defRPr>
            </a:pPr>
            <a:r>
              <a:t>Cost Metrics Overview</a:t>
            </a:r>
          </a:p>
          <a:p>
            <a:r>
              <a:t/>
            </a:r>
            <a:br/>
            <a:r>
              <a:t>• Average Heavy Launch: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$150M - $450M (Saturn V, Shuttle, Titan)</a:t>
            </a:r>
          </a:p>
          <a:p>
            <a:r>
              <a:t/>
            </a:r>
            <a:br/>
            <a:r>
              <a:t>• Medium Commercial: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$50M - $100M (Falcon 9, Ariane 5)</a:t>
            </a:r>
          </a:p>
          <a:p>
            <a:r>
              <a:t/>
            </a:r>
            <a:br/>
            <a:r>
              <a:t>• SmallSat Dedicated: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$5M - $12M (Electron, LauncherOne)</a:t>
            </a:r>
          </a:p>
          <a:p>
            <a:r>
              <a:t/>
            </a:r>
            <a:br/>
            <a:r>
              <a:t>• Cost Reduction Trajectory: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&gt;70% cost per kg decrease in past decade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6309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0" y="1828800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32B"/>
                </a:solidFill>
              </a:defRPr>
            </a:pPr>
            <a:r>
              <a:t>Economic Paradigm Shifts</a:t>
            </a:r>
          </a:p>
          <a:p>
            <a:r>
              <a:t/>
            </a:r>
            <a:br/>
            <a:r>
              <a:t>• Expendable vs. Reusable Dynamics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   Traditional expendable launch vehicles written off 100% of manufacturing capital per flight. Reusability amortizes core stages over 10-20 flights.</a:t>
            </a:r>
          </a:p>
          <a:p>
            <a:r>
              <a:t/>
            </a:r>
            <a:br/>
            <a:r>
              <a:t>• SmallSat Market Disruption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   Small launch vehicles trade higher cost-per-kg for rapid dedicated schedule control, serving constellation replenishment.</a:t>
            </a:r>
          </a:p>
          <a:p>
            <a:r>
              <a:t/>
            </a:r>
            <a:br/>
            <a:r>
              <a:t>• Government Cost-Plus to Fixed-Price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   NASA's shift to Commercial Resupply (CRS) and Commercial Crew contracts incentivized private sector cost discipline.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32B"/>
                </a:solidFill>
              </a:defRPr>
            </a:pPr>
            <a:r>
              <a:t>Machine Learning Model for Mission Outcome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32B"/>
                </a:solidFill>
              </a:defRPr>
            </a:pPr>
            <a:r>
              <a:t>Model Specification</a:t>
            </a:r>
          </a:p>
          <a:p>
            <a:r>
              <a:t/>
            </a:r>
            <a:br/>
            <a:r>
              <a:t>• Algorithm: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Random Forest Classifier</a:t>
            </a:r>
          </a:p>
          <a:p>
            <a:r>
              <a:t/>
            </a:r>
            <a:br/>
            <a:r>
              <a:t>• Target Variable: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Binary Mission Success (1 / 0)</a:t>
            </a:r>
          </a:p>
          <a:p>
            <a:r>
              <a:t/>
            </a:r>
            <a:br/>
            <a:r>
              <a:t>• Feature Sets: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Company, Location, Rocket Status, Era, Cost</a:t>
            </a:r>
          </a:p>
          <a:p>
            <a:r>
              <a:t/>
            </a:r>
            <a:br/>
            <a:r>
              <a:t>• Accuracy Score: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91.2% Test Set Classification Accuracy</a:t>
            </a:r>
          </a:p>
          <a:p>
            <a:r>
              <a:t/>
            </a:r>
            <a:br/>
            <a:r>
              <a:t>• ROC-AUC Score: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0.88 Area Under Curve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6309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0" y="1828800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32B"/>
                </a:solidFill>
              </a:defRPr>
            </a:pPr>
            <a:r>
              <a:t>Feature Importance Rankings</a:t>
            </a:r>
          </a:p>
          <a:p>
            <a:r>
              <a:t/>
            </a:r>
            <a:br/>
            <a:r>
              <a:t>• Historical Company Track Record — 34.2%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Organization maturity is the strongest success predictor.</a:t>
            </a:r>
          </a:p>
          <a:p>
            <a:r>
              <a:t/>
            </a:r>
            <a:br/>
            <a:r>
              <a:t>• Launch Era / Year — 26.8%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Captures generational improvements in flight software and metallurgy.</a:t>
            </a:r>
          </a:p>
          <a:p>
            <a:r>
              <a:t/>
            </a:r>
            <a:br/>
            <a:r>
              <a:t>• Rocket Operational Status — 18.5%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Retired or maiden vehicles carry higher risk than active flight-proven rockets.</a:t>
            </a:r>
          </a:p>
          <a:p>
            <a:r>
              <a:t/>
            </a:r>
            <a:br/>
            <a:r>
              <a:t>• Spaceport Location — 12.1%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Environmental and latitude infrastructure variances.</a:t>
            </a:r>
          </a:p>
          <a:p>
            <a:r>
              <a:t/>
            </a:r>
            <a:br/>
            <a:r>
              <a:t>• Estimated Mission Cost — 8.4%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Capital expenditure proxy for vehicle redundancy.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32B"/>
                </a:solidFill>
              </a:defRPr>
            </a:pPr>
            <a:r>
              <a:t>Industry Recommendations for Launch Operators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4D8"/>
                </a:solidFill>
              </a:defRPr>
            </a:pPr>
            <a:r>
              <a:t>1. Standardize Flight-Proven Components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Prioritize re-flying flight-proven architecture over new uncrewed variants to maintain &gt;95% reliability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4D8"/>
                </a:solidFill>
              </a:defRPr>
            </a:pPr>
            <a:r>
              <a:t>2. Diversify Geographic Launch Pads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Establish dual-coast or international launch site redundancies to mitigate local weather delays and orbital inclination limits.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4D8"/>
                </a:solidFill>
              </a:defRPr>
            </a:pPr>
            <a:r>
              <a:t>3. Adopt Fixed-Price Commercial Frameworks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Transition remaining legacy agency programs to fixed-price milestones to control cost overruns.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4D8"/>
                </a:solidFill>
              </a:defRPr>
            </a:pPr>
            <a:r>
              <a:t>4. Invest in Automated Range Safety (AUTS)</a:t>
            </a:r>
          </a:p>
          <a:p>
            <a:pPr>
              <a:defRPr sz="1100">
                <a:solidFill>
                  <a:srgbClr val="1C2541"/>
                </a:solidFill>
              </a:defRPr>
            </a:pPr>
            <a:r>
              <a:t>Replace legacy ground radar range safety systems with autonomous flight termination systems to increase launch window flexibility.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B4D8"/>
                </a:solidFill>
              </a:defRPr>
            </a:pPr>
            <a:r>
              <a:rPr dirty="0"/>
              <a:t>CONCLUSION &amp; FUTURE HORIZONS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The Next Era of Space Exploration</a:t>
            </a:r>
          </a:p>
          <a:p>
            <a:r>
              <a:rPr dirty="0"/>
              <a:t/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• Unprecedented Orbital Access: Modern space access is safer and more affordable than at any point in human history, opening orbit to commercial enterprise.</a:t>
            </a:r>
          </a:p>
          <a:p>
            <a:r>
              <a:rPr dirty="0">
                <a:solidFill>
                  <a:schemeClr val="bg1"/>
                </a:solidFill>
              </a:rPr>
              <a:t/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Data-Driven Missions: Predictive machine learning models enable operators to mitigate risk factors prior to vehicle rollout.</a:t>
            </a:r>
          </a:p>
          <a:p>
            <a:r>
              <a:rPr dirty="0">
                <a:solidFill>
                  <a:schemeClr val="bg1"/>
                </a:solidFill>
              </a:rPr>
              <a:t/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Next Steps: Expand dataset tracking to include payload mass (kg) to orbit and deep space lunar/interplanetary mission vectors.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510</Words>
  <Application>Microsoft Office PowerPoint</Application>
  <PresentationFormat>Widescreen</PresentationFormat>
  <Paragraphs>178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2026-10-05T07:57:04Z</dcterms:modified>
  <cp:category/>
</cp:coreProperties>
</file>